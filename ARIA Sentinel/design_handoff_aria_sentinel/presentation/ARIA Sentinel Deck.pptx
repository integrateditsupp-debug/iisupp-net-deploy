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ARIA Sentinel — resident IT support that never sleeps. The on-device autonomous extension of our existing ARIA L1-L3 support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orgs drown in repeat, automatable tickets. 10s-100s of agents in helpdesk roles. The pattern across 16+ years: most of it is the same fixable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ARIA Sentinel lives on the PC, watches, and fixes before you notice. The gold globe is the whole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modes. Manual is the free default. Confirmed and Autonomous are paid. Risky fixes always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ARIA can't fix it locally, it auto-routes a ServiceNow incident to the right assignment group. The user can't change the bin — ARIA picks it from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ARIA reads the company's own policies, procedures, compliance and culture docs before acting. It never operates outside documented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layers. The desktop agent is the engine. Backend is pull-only. ServiceNow is the one intentional outbound, to the customer's own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by engineering. No upload paths to iisupp.net exist in the binary. Open-source verification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wow moment. ARIA appears on the BSOD recovery screen. Reads the minidump, fixes locally, or routes a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detection-to-fix recipes ship in MVP, expanding to 75+ via the KB-agent loop. Desktop and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loop: install, watch, detect, fix, done. Globe state changes carry the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Standalone B2B pricing, separate from existing ARIA tiers. Manual free, Confirmed+Autonomous paid. Roadmap by sprint to v1.0.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close. Founder direct. This is slide 12 — the end of the internal alignment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extra. Why ambient agents now: AI capable enough, on-device compute, privacy demand, support cost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competitor at this strict-privacy, ambient, on-device-fix positioning. RMM tools monitor; chatbots talk; MSPs are manual. ARIA fixes, on-device.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download MVP, then store listings. IT-team motion via GPO/MSI/SCCM and a deployment one-pager.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8863c012-f33b-4f46-8d6c-926b7f33c57a.claudeusercontent.com/cdn-cgi/l/email-protection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5A059">
                  <a:alpha val="10000"/>
                </a:srgbClr>
              </a:gs>
              <a:gs pos="55000">
                <a:srgbClr val="C5A059">
                  <a:alpha val="0"/>
                </a:srgbClr>
              </a:gs>
            </a:gsLst>
            <a:path path="circle">
              <a:fillToRect l="72000" t="42000" r="28000" b="58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30250" y="5142676"/>
            <a:ext cx="3429000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500" y="3252788"/>
            <a:ext cx="96767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48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INTEGRATED IT SUPPORT INC. · IISUPP.NET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33500" y="3881438"/>
            <a:ext cx="96767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90" kern="0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ARIA 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9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Sentinel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1333500" y="5310188"/>
            <a:ext cx="967679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9E9E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Resident IT support that never sleeps.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333500" y="6005513"/>
            <a:ext cx="745617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ambient on-device agent that watches for tech problems, fixes them before they slow you down, and routes the rest — without sending your data anywhere.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801987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335387"/>
            <a:ext cx="11772900" cy="1360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service desk is buried in the same fixable tickets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333500" y="5267771"/>
            <a:ext cx="3719512" cy="2217241"/>
          </a:xfrm>
          <a:prstGeom prst="roundRect">
            <a:avLst>
              <a:gd name="adj" fmla="val 7733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5925" y="5620196"/>
            <a:ext cx="3316129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70–80%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85925" y="6572696"/>
            <a:ext cx="3105102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L1–L3 tickets are repeat, automatable issues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5300663" y="5267771"/>
            <a:ext cx="3719512" cy="2217241"/>
          </a:xfrm>
          <a:prstGeom prst="roundRect">
            <a:avLst>
              <a:gd name="adj" fmla="val 7733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3088" y="5620196"/>
            <a:ext cx="3316129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$15–30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653088" y="6572696"/>
            <a:ext cx="3105102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fully-loaded cost per support ticket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9267825" y="5267771"/>
            <a:ext cx="3719512" cy="2217241"/>
          </a:xfrm>
          <a:prstGeom prst="roundRect">
            <a:avLst>
              <a:gd name="adj" fmla="val 7733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0250" y="5620196"/>
            <a:ext cx="3316129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10s–100s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620250" y="6572696"/>
            <a:ext cx="3105102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agents per large-org helpdesk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3234988" y="5267771"/>
            <a:ext cx="3719512" cy="2217241"/>
          </a:xfrm>
          <a:prstGeom prst="roundRect">
            <a:avLst>
              <a:gd name="adj" fmla="val 7733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87413" y="5620196"/>
            <a:ext cx="3316129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millions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587413" y="6572696"/>
            <a:ext cx="3105102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tickets/calls per year at enterprise scale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5A059">
                  <a:alpha val="9000"/>
                </a:srgbClr>
              </a:gs>
              <a:gs pos="55000">
                <a:srgbClr val="C5A059">
                  <a:alpha val="0"/>
                </a:srgbClr>
              </a:gs>
            </a:gsLst>
            <a:path path="circle">
              <a:fillToRect l="24000" t="50000" r="76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3471166"/>
            <a:ext cx="3238500" cy="3238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0250" y="3066455"/>
            <a:ext cx="12258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PRODUCT, IN ONE SENTENCE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810250" y="3618905"/>
            <a:ext cx="11478578" cy="2645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ARIA Sentinel lives on your PC, watches for tech problems, and fixes them before they slow you down.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5810250" y="6512123"/>
            <a:ext cx="804481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gold globe hugs the edge of the screen. It stays calm until something breaks — then it diagnoses, fixes, and gets out of the way.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51411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484811"/>
            <a:ext cx="171831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Three modes, you stay in control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333500" y="4856411"/>
            <a:ext cx="5029200" cy="2479179"/>
          </a:xfrm>
          <a:prstGeom prst="roundRect">
            <a:avLst>
              <a:gd name="adj" fmla="val 7684"/>
            </a:avLst>
          </a:prstGeom>
          <a:gradFill rotWithShape="1">
            <a:gsLst>
              <a:gs pos="0">
                <a:srgbClr val="15110A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C5A0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2125" y="5285036"/>
            <a:ext cx="15133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Manual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3271242" y="5351711"/>
            <a:ext cx="1667768" cy="304800"/>
          </a:xfrm>
          <a:prstGeom prst="roundRect">
            <a:avLst>
              <a:gd name="adj" fmla="val 18750"/>
            </a:avLst>
          </a:prstGeom>
          <a:ln w="9525">
            <a:solidFill>
              <a:srgbClr val="7AFB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5067" y="5408861"/>
            <a:ext cx="1496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7A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· 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62125" y="5932736"/>
            <a:ext cx="4297109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 detects the issue and walks you through the fix in chat. Nothing is applied automatically.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629400" y="4856411"/>
            <a:ext cx="5029200" cy="2479179"/>
          </a:xfrm>
          <a:prstGeom prst="roundRect">
            <a:avLst>
              <a:gd name="adj" fmla="val 7684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8025" y="5285036"/>
            <a:ext cx="21526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Confirmed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8316" y="5351711"/>
            <a:ext cx="663029" cy="304800"/>
          </a:xfrm>
          <a:prstGeom prst="roundRect">
            <a:avLst>
              <a:gd name="adj" fmla="val 18750"/>
            </a:avLst>
          </a:prstGeom>
          <a:ln w="9525">
            <a:solidFill>
              <a:srgbClr val="C5A05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2141" y="5408861"/>
            <a:ext cx="4915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58025" y="5932736"/>
            <a:ext cx="429710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 proposes a fix card and applies it the moment you confirm.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925300" y="4856411"/>
            <a:ext cx="5029200" cy="2479179"/>
          </a:xfrm>
          <a:prstGeom prst="roundRect">
            <a:avLst>
              <a:gd name="adj" fmla="val 7684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53925" y="5285036"/>
            <a:ext cx="254963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Autonomous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805124" y="5351711"/>
            <a:ext cx="1484114" cy="304800"/>
          </a:xfrm>
          <a:prstGeom prst="roundRect">
            <a:avLst>
              <a:gd name="adj" fmla="val 18750"/>
            </a:avLst>
          </a:prstGeom>
          <a:ln w="9525">
            <a:solidFill>
              <a:srgbClr val="C5A05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28949" y="5408861"/>
            <a:ext cx="13126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· OPT-IN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53925" y="5932736"/>
            <a:ext cx="429710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 silently fixes low-risk issues and tells you after. High-risk fixes still confirm.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68079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FFCB6B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WHEN ARIA CAN'T FIX 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501479"/>
            <a:ext cx="1275397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It raises a routed ServiceNow incident — automatically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5010001"/>
            <a:ext cx="107918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 classifies the unresolved signal and files an incident to the correct assignment group, pre-filled with diagnostics. Routing is policy-driven and not user-editable.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3500" y="6229201"/>
            <a:ext cx="2460575" cy="1089571"/>
          </a:xfrm>
          <a:prstGeom prst="roundRect">
            <a:avLst>
              <a:gd name="adj" fmla="val 12239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333500" y="7309247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" y="6229201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6229201"/>
            <a:ext cx="28575" cy="1089571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Shape 7"/>
          <p:cNvSpPr/>
          <p:nvPr/>
        </p:nvSpPr>
        <p:spPr>
          <a:xfrm>
            <a:off x="3784550" y="6229201"/>
            <a:ext cx="9525" cy="108957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1571625" y="6486376"/>
            <a:ext cx="2203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Support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571625" y="6848326"/>
            <a:ext cx="2203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· reimaging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65525" y="6229201"/>
            <a:ext cx="2460575" cy="1089571"/>
          </a:xfrm>
          <a:prstGeom prst="roundRect">
            <a:avLst>
              <a:gd name="adj" fmla="val 12239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3965525" y="7309247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65525" y="6229201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3965525" y="6229201"/>
            <a:ext cx="28575" cy="1089571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6576" y="6229201"/>
            <a:ext cx="9525" cy="108957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203650" y="6486376"/>
            <a:ext cx="2203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4203650" y="6848326"/>
            <a:ext cx="2203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 · DNS infra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97551" y="6229201"/>
            <a:ext cx="2460724" cy="1089571"/>
          </a:xfrm>
          <a:prstGeom prst="roundRect">
            <a:avLst>
              <a:gd name="adj" fmla="val 12239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6597551" y="7309247"/>
            <a:ext cx="2460724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97551" y="6229201"/>
            <a:ext cx="2460724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97551" y="6229201"/>
            <a:ext cx="28575" cy="1089571"/>
          </a:xfrm>
          <a:prstGeom prst="rect">
            <a:avLst/>
          </a:prstGeom>
          <a:solidFill>
            <a:srgbClr val="FF7E7E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8750" y="6229201"/>
            <a:ext cx="9525" cy="108957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6835676" y="6486376"/>
            <a:ext cx="22038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6835676" y="6848326"/>
            <a:ext cx="2203877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 · policy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29725" y="6229201"/>
            <a:ext cx="2460575" cy="1089571"/>
          </a:xfrm>
          <a:prstGeom prst="roundRect">
            <a:avLst>
              <a:gd name="adj" fmla="val 12239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9229725" y="7309247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9229725" y="6229201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9725" y="6229201"/>
            <a:ext cx="28575" cy="1089571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80775" y="6229201"/>
            <a:ext cx="9525" cy="108957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9467850" y="6486376"/>
            <a:ext cx="2203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Admins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9467850" y="6848326"/>
            <a:ext cx="2203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· GPO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861750" y="6229201"/>
            <a:ext cx="2460575" cy="1089571"/>
          </a:xfrm>
          <a:prstGeom prst="roundRect">
            <a:avLst>
              <a:gd name="adj" fmla="val 12239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4" name="Shape 32"/>
          <p:cNvSpPr/>
          <p:nvPr/>
        </p:nvSpPr>
        <p:spPr>
          <a:xfrm>
            <a:off x="11861750" y="7309247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861750" y="6229201"/>
            <a:ext cx="24605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861750" y="6229201"/>
            <a:ext cx="28575" cy="1089571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7" name="Shape 35"/>
          <p:cNvSpPr/>
          <p:nvPr/>
        </p:nvSpPr>
        <p:spPr>
          <a:xfrm>
            <a:off x="14312801" y="6229201"/>
            <a:ext cx="9525" cy="108957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8" name="Text 36"/>
          <p:cNvSpPr/>
          <p:nvPr/>
        </p:nvSpPr>
        <p:spPr>
          <a:xfrm>
            <a:off x="12099875" y="6486376"/>
            <a:ext cx="22037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Purchasing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12099875" y="6848326"/>
            <a:ext cx="220371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· licenses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493776" y="6229201"/>
            <a:ext cx="2460724" cy="1089571"/>
          </a:xfrm>
          <a:prstGeom prst="roundRect">
            <a:avLst>
              <a:gd name="adj" fmla="val 12239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1" name="Shape 39"/>
          <p:cNvSpPr/>
          <p:nvPr/>
        </p:nvSpPr>
        <p:spPr>
          <a:xfrm>
            <a:off x="14493776" y="7309247"/>
            <a:ext cx="2460724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14493776" y="6229201"/>
            <a:ext cx="2460724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3" name="Shape 41"/>
          <p:cNvSpPr/>
          <p:nvPr/>
        </p:nvSpPr>
        <p:spPr>
          <a:xfrm>
            <a:off x="14493776" y="6229201"/>
            <a:ext cx="28575" cy="1089571"/>
          </a:xfrm>
          <a:prstGeom prst="rect">
            <a:avLst/>
          </a:prstGeom>
          <a:solidFill>
            <a:srgbClr val="7AFB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6944975" y="6229201"/>
            <a:ext cx="9525" cy="108957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5" name="Text 43"/>
          <p:cNvSpPr/>
          <p:nvPr/>
        </p:nvSpPr>
        <p:spPr>
          <a:xfrm>
            <a:off x="14731901" y="6486376"/>
            <a:ext cx="22038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Desk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14731901" y="6848326"/>
            <a:ext cx="2203877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Catch-all triage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5A059">
                  <a:alpha val="8000"/>
                </a:srgbClr>
              </a:gs>
              <a:gs pos="55000">
                <a:srgbClr val="C5A059">
                  <a:alpha val="0"/>
                </a:srgbClr>
              </a:gs>
            </a:gsLst>
            <a:path path="circle">
              <a:fillToRect l="78000" t="50000" r="22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333500" y="3414861"/>
            <a:ext cx="96183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GOVERNANCE FIRST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500" y="3948261"/>
            <a:ext cx="9006269" cy="129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It reads your rulebook before it touches anything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333500" y="5455295"/>
            <a:ext cx="7652385" cy="145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your procedures, policies, workflows, culture, security, compliance, audit and regulatory docs. ARIA consults this on-device corpus before any fix or suggestion — and uses your culture &amp; tone docs to shape how it speaks to users.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839450" y="3214688"/>
            <a:ext cx="6115050" cy="3857625"/>
          </a:xfrm>
          <a:prstGeom prst="roundRect">
            <a:avLst>
              <a:gd name="adj" fmla="val 4938"/>
            </a:avLst>
          </a:prstGeom>
          <a:solidFill>
            <a:srgbClr val="0A0A0A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29975" y="3605213"/>
            <a:ext cx="5334000" cy="647700"/>
          </a:xfrm>
          <a:prstGeom prst="roundRect">
            <a:avLst>
              <a:gd name="adj" fmla="val 17647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68100" y="3805238"/>
            <a:ext cx="50177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issue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963275" y="4405313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229975" y="4852988"/>
            <a:ext cx="5334000" cy="647700"/>
          </a:xfrm>
          <a:prstGeom prst="roundRect">
            <a:avLst>
              <a:gd name="adj" fmla="val 17647"/>
            </a:avLst>
          </a:prstGeom>
          <a:solidFill>
            <a:srgbClr val="15110A"/>
          </a:solidFill>
          <a:ln w="9525">
            <a:solidFill>
              <a:srgbClr val="C5A059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68100" y="5053013"/>
            <a:ext cx="50177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1D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against policy corpus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963275" y="5653088"/>
            <a:ext cx="5867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229975" y="6100763"/>
            <a:ext cx="2590800" cy="581025"/>
          </a:xfrm>
          <a:prstGeom prst="roundRect">
            <a:avLst>
              <a:gd name="adj" fmla="val 19672"/>
            </a:avLst>
          </a:prstGeom>
          <a:solidFill>
            <a:srgbClr val="0C0C0C"/>
          </a:solidFill>
          <a:ln w="9525">
            <a:solidFill>
              <a:srgbClr val="7AFB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10950" y="6281738"/>
            <a:ext cx="23065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A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 → apply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3973175" y="6100763"/>
            <a:ext cx="2590800" cy="581025"/>
          </a:xfrm>
          <a:prstGeom prst="roundRect">
            <a:avLst>
              <a:gd name="adj" fmla="val 19672"/>
            </a:avLst>
          </a:prstGeom>
          <a:solidFill>
            <a:srgbClr val="0C0C0C"/>
          </a:solidFill>
          <a:ln w="9525">
            <a:solidFill>
              <a:srgbClr val="FFCB6B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54150" y="6281738"/>
            <a:ext cx="23065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C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→ escalate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614613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128963"/>
            <a:ext cx="1718310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Four layers, one engine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333500" y="4205288"/>
            <a:ext cx="15621000" cy="752475"/>
          </a:xfrm>
          <a:prstGeom prst="roundRect">
            <a:avLst>
              <a:gd name="adj" fmla="val 17722"/>
            </a:avLst>
          </a:prstGeom>
          <a:solidFill>
            <a:srgbClr val="0A0A0A"/>
          </a:solidFill>
          <a:ln w="9525">
            <a:solidFill>
              <a:srgbClr val="C5A059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4443413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L4 · BRAND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781425" y="4462463"/>
            <a:ext cx="56529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globe · Cinzel + Inter · ARIA TTS voice · dark only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1333500" y="5110163"/>
            <a:ext cx="15621000" cy="752475"/>
          </a:xfrm>
          <a:prstGeom prst="roundRect">
            <a:avLst>
              <a:gd name="adj" fmla="val 17722"/>
            </a:avLst>
          </a:prstGeom>
          <a:solidFill>
            <a:srgbClr val="0A0A0A"/>
          </a:solidFill>
          <a:ln w="9525">
            <a:solidFill>
              <a:srgbClr val="7AFBFF">
                <a:alpha val="3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7825" y="5348288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7AFB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L3 · BACKEND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781425" y="5367338"/>
            <a:ext cx="89744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iisupp.net — pull-only: signed recipes + BSOD stop-code index. No user data uploads.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333500" y="6015038"/>
            <a:ext cx="15621000" cy="752475"/>
          </a:xfrm>
          <a:prstGeom prst="roundRect">
            <a:avLst>
              <a:gd name="adj" fmla="val 17722"/>
            </a:avLst>
          </a:prstGeom>
          <a:solidFill>
            <a:srgbClr val="0A0A0A"/>
          </a:solidFill>
          <a:ln w="9525">
            <a:solidFill>
              <a:srgbClr val="C5A059">
                <a:alpha val="3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7825" y="6253163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L2 · BROWSER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781425" y="6272213"/>
            <a:ext cx="86940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 V3 extensions — Chrome · Edge · Safari · localhost WS bridge to the agent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333500" y="6919913"/>
            <a:ext cx="15621000" cy="752475"/>
          </a:xfrm>
          <a:prstGeom prst="roundRect">
            <a:avLst>
              <a:gd name="adj" fmla="val 17722"/>
            </a:avLst>
          </a:prstGeom>
          <a:solidFill>
            <a:srgbClr val="0A0A0A"/>
          </a:solidFill>
          <a:ln w="9525">
            <a:solidFill>
              <a:srgbClr val="F1DCA7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7825" y="7158038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1DCA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L1 · AGENT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781425" y="7177088"/>
            <a:ext cx="973343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· watchers · PowerShell fix runner · encrypted KB · BSOD/WinRE · </a:t>
            </a:r>
            <a:pPr algn="l" indent="0" marL="0">
              <a:buNone/>
            </a:pPr>
            <a:r>
              <a:rPr lang="en-US" sz="1575" dirty="0">
                <a:solidFill>
                  <a:srgbClr val="FFC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bridge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395067"/>
            <a:ext cx="10142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7AFB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928467"/>
            <a:ext cx="949680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Privacy by engineering, not by promise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5475089"/>
            <a:ext cx="7652385" cy="145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user-data upload path exists in the binary — verifiable with any network monitor. Recipes come down from iisupp.net; incidents go to your own ServiceNow. KB is encrypted on-device. The verification harness is source-available.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410950" y="3557588"/>
            <a:ext cx="5543550" cy="3171825"/>
          </a:xfrm>
          <a:prstGeom prst="roundRect">
            <a:avLst>
              <a:gd name="adj" fmla="val 7207"/>
            </a:avLst>
          </a:prstGeom>
          <a:solidFill>
            <a:srgbClr val="0A0A0A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72900" y="4138613"/>
            <a:ext cx="481965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500" b="1" dirty="0">
                <a:solidFill>
                  <a:srgbClr val="7AFB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11772900" y="5853113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data-upload paths to iisupp.net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603748"/>
            <a:ext cx="173926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:(</a:t>
            </a:r>
            <a:endParaRPr lang="en-US" sz="9750" dirty="0"/>
          </a:p>
        </p:txBody>
      </p:sp>
      <p:sp>
        <p:nvSpPr>
          <p:cNvPr id="3" name="Text 1"/>
          <p:cNvSpPr/>
          <p:nvPr/>
        </p:nvSpPr>
        <p:spPr>
          <a:xfrm>
            <a:off x="1238250" y="3918198"/>
            <a:ext cx="942975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PC ran into a problem and needs to restart.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238250" y="4564856"/>
            <a:ext cx="1739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code: CRITICAL_PROCESS_DIED (0x000000EF)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238250" y="5288756"/>
            <a:ext cx="13392150" cy="2394347"/>
          </a:xfrm>
          <a:prstGeom prst="roundRect">
            <a:avLst>
              <a:gd name="adj" fmla="val 8752"/>
            </a:avLst>
          </a:prstGeom>
          <a:solidFill>
            <a:srgbClr val="000000">
              <a:alpha val="34000"/>
            </a:srgbClr>
          </a:solidFill>
          <a:ln w="28575">
            <a:solidFill>
              <a:srgbClr val="C5A059">
                <a:alpha val="8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7825" y="5771555"/>
            <a:ext cx="1428750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57575" y="5660231"/>
            <a:ext cx="78595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60" kern="0" dirty="0">
                <a:solidFill>
                  <a:srgbClr val="F1DCA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ARIA SENTINEL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57575" y="5993606"/>
            <a:ext cx="785959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Solve it for me</a:t>
            </a:r>
            <a:endParaRPr lang="en-US" sz="3450" dirty="0"/>
          </a:p>
        </p:txBody>
      </p:sp>
      <p:sp>
        <p:nvSpPr>
          <p:cNvPr id="9" name="Text 6"/>
          <p:cNvSpPr/>
          <p:nvPr/>
        </p:nvSpPr>
        <p:spPr>
          <a:xfrm>
            <a:off x="3457575" y="6698456"/>
            <a:ext cx="7359442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can read this stop code and apply a known fix locally — or raise a routed ServiceNow incident if hardware support is needed.</a:t>
            </a:r>
            <a:endParaRPr lang="en-US" sz="1725" dirty="0"/>
          </a:p>
        </p:txBody>
      </p:sp>
      <p:sp>
        <p:nvSpPr>
          <p:cNvPr id="10" name="Shape 7"/>
          <p:cNvSpPr/>
          <p:nvPr/>
        </p:nvSpPr>
        <p:spPr>
          <a:xfrm>
            <a:off x="10983664" y="6104930"/>
            <a:ext cx="3237161" cy="762000"/>
          </a:xfrm>
          <a:prstGeom prst="roundRect">
            <a:avLst>
              <a:gd name="adj" fmla="val 17500"/>
            </a:avLst>
          </a:prstGeom>
          <a:solidFill>
            <a:srgbClr val="C5A059"/>
          </a:solidFill>
          <a:ln/>
        </p:spPr>
      </p:sp>
      <p:sp>
        <p:nvSpPr>
          <p:cNvPr id="11" name="Text 8"/>
          <p:cNvSpPr/>
          <p:nvPr/>
        </p:nvSpPr>
        <p:spPr>
          <a:xfrm>
            <a:off x="11345614" y="6333530"/>
            <a:ext cx="2610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1A141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SOLVE IT FOR ME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102197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KNOWLEDGE BASE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2597497"/>
            <a:ext cx="173926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25 fixes at launch, expanding to 75+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238250" y="3483322"/>
            <a:ext cx="1295019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the known: ARIA researches new issues as they appear and resolves them — or connects you to IT experts with decades of cross-sector experience.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46034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225" y="47843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DISK.FULL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427190" y="46034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8165" y="47843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NET.DNS.FAIL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616130" y="46034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7105" y="47843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NET.WIFI.DROP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805071" y="46034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86046" y="47843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OUTLOOK.CRASH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994011" y="46034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4986" y="47843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PRINT.OFFLINE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38250" y="53463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9225" y="55273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WIN.UPDATE.STUCK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427190" y="53463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165" y="55273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SLOW.PC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616130" y="53463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FFCB6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7105" y="55273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BLUE.SCREEN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805071" y="53463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86046" y="55273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TEAMS.STUCK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994011" y="53463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4986" y="55273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ONEDRIVE.SYNC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238250" y="60893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9225" y="62702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AUDIO.MUTE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4427190" y="60893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165" y="62702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BLUETOOTH.OFF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16130" y="60893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7105" y="62702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VPN.DROP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805071" y="60893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86046" y="62702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CACHE.STALE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3994011" y="60893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4986" y="62702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COOKIE.JAR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238250" y="68322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9225" y="70132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PASSWORD.RETRY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4427190" y="68322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165" y="70132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SERVICE.WORKER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7616130" y="68322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7105" y="70132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CERT.EXPIRED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0805071" y="68322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86046" y="70132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EXT.CONFLICT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3994011" y="683225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74986" y="701322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TAB.HANG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238250" y="7575203"/>
            <a:ext cx="3055590" cy="609600"/>
          </a:xfrm>
          <a:prstGeom prst="roundRect">
            <a:avLst>
              <a:gd name="adj" fmla="val 17188"/>
            </a:avLst>
          </a:prstGeom>
          <a:solidFill>
            <a:srgbClr val="0C0C0C"/>
          </a:solidFill>
          <a:ln w="9525">
            <a:solidFill>
              <a:srgbClr val="2A2A2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419225" y="7756178"/>
            <a:ext cx="27853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 more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5A059">
                  <a:alpha val="7000"/>
                </a:srgbClr>
              </a:gs>
              <a:gs pos="60000">
                <a:srgbClr val="C5A059">
                  <a:alpha val="0"/>
                </a:srgbClr>
              </a:gs>
            </a:gsLst>
            <a:path path="circle">
              <a:fillToRect l="50000" t="30000" r="5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3133725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LOOP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3667125"/>
            <a:ext cx="173926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Install → detect → fix → done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" y="4962525"/>
            <a:ext cx="1428750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0610" y="6562725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70610" y="6934200"/>
            <a:ext cx="36880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&lt;1% CPU idle</a:t>
            </a:r>
            <a:endParaRPr lang="en-US" sz="1425" dirty="0"/>
          </a:p>
        </p:txBody>
      </p:sp>
      <p:sp>
        <p:nvSpPr>
          <p:cNvPr id="8" name="Text 5"/>
          <p:cNvSpPr/>
          <p:nvPr/>
        </p:nvSpPr>
        <p:spPr>
          <a:xfrm>
            <a:off x="4762500" y="5776913"/>
            <a:ext cx="5334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1150" y="4962525"/>
            <a:ext cx="1428750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510" y="6562725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Diagnosing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223510" y="6934200"/>
            <a:ext cx="36880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local KB</a:t>
            </a:r>
            <a:endParaRPr lang="en-US" sz="1425" dirty="0"/>
          </a:p>
        </p:txBody>
      </p:sp>
      <p:sp>
        <p:nvSpPr>
          <p:cNvPr id="12" name="Text 8"/>
          <p:cNvSpPr/>
          <p:nvPr/>
        </p:nvSpPr>
        <p:spPr>
          <a:xfrm>
            <a:off x="8915400" y="5776913"/>
            <a:ext cx="5334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4050" y="4962525"/>
            <a:ext cx="1428750" cy="1428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76410" y="6562725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Fixing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9376410" y="6934200"/>
            <a:ext cx="36880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 point first</a:t>
            </a:r>
            <a:endParaRPr lang="en-US" sz="1425" dirty="0"/>
          </a:p>
        </p:txBody>
      </p:sp>
      <p:sp>
        <p:nvSpPr>
          <p:cNvPr id="16" name="Text 11"/>
          <p:cNvSpPr/>
          <p:nvPr/>
        </p:nvSpPr>
        <p:spPr>
          <a:xfrm>
            <a:off x="13068300" y="5776913"/>
            <a:ext cx="5334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96950" y="4962525"/>
            <a:ext cx="1428750" cy="1428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29310" y="6562725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13529310" y="6934200"/>
            <a:ext cx="36880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slides up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022402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MODEL &amp;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3517702"/>
            <a:ext cx="173926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B2B-first, shipped in sprints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238250" y="4670227"/>
            <a:ext cx="5734050" cy="2594372"/>
          </a:xfrm>
          <a:prstGeom prst="roundRect">
            <a:avLst>
              <a:gd name="adj" fmla="val 7343"/>
            </a:avLst>
          </a:prstGeom>
          <a:gradFill rotWithShape="1">
            <a:gsLst>
              <a:gs pos="0">
                <a:srgbClr val="15110A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C5A0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8775" y="5060752"/>
            <a:ext cx="5448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Standalone subscription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28775" y="5594152"/>
            <a:ext cx="5101590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from existing ARIA tiers. </a:t>
            </a:r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7A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= free / freemium. </a:t>
            </a:r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+ Autonomous = paid. </a:t>
            </a:r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Per-seat for SMB → enterprise. GPO / MSI / SCCM deployment.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258050" y="4919663"/>
            <a:ext cx="4819650" cy="609600"/>
          </a:xfrm>
          <a:prstGeom prst="roundRect">
            <a:avLst>
              <a:gd name="adj" fmla="val 18750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7125" y="5100638"/>
            <a:ext cx="45260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S0–1</a:t>
            </a:r>
            <a:pPr algn="l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Backend + Win/Chrome MVP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230100" y="4919663"/>
            <a:ext cx="4819650" cy="609600"/>
          </a:xfrm>
          <a:prstGeom prst="roundRect">
            <a:avLst>
              <a:gd name="adj" fmla="val 18750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49175" y="5100638"/>
            <a:ext cx="45260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S2–3</a:t>
            </a:r>
            <a:pPr algn="l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macOS + Edge/Safari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58050" y="5662613"/>
            <a:ext cx="4819650" cy="609600"/>
          </a:xfrm>
          <a:prstGeom prst="roundRect">
            <a:avLst>
              <a:gd name="adj" fmla="val 18750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7125" y="5843588"/>
            <a:ext cx="45260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S4</a:t>
            </a:r>
            <a:pPr algn="l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Autonomous + BSOD Tier 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230100" y="5662613"/>
            <a:ext cx="4819650" cy="609600"/>
          </a:xfrm>
          <a:prstGeom prst="roundRect">
            <a:avLst>
              <a:gd name="adj" fmla="val 18750"/>
            </a:avLst>
          </a:prstGeom>
          <a:solidFill>
            <a:srgbClr val="0C0C0C"/>
          </a:solidFill>
          <a:ln w="9525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49175" y="5843588"/>
            <a:ext cx="45260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S5</a:t>
            </a:r>
            <a:pPr algn="l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75+ recipes (KB loop)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58050" y="6405563"/>
            <a:ext cx="9791700" cy="609600"/>
          </a:xfrm>
          <a:prstGeom prst="roundRect">
            <a:avLst>
              <a:gd name="adj" fmla="val 18750"/>
            </a:avLst>
          </a:prstGeom>
          <a:solidFill>
            <a:srgbClr val="0C0C0C"/>
          </a:solidFill>
          <a:ln w="9525">
            <a:solidFill>
              <a:srgbClr val="F1DCA7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7125" y="6586538"/>
            <a:ext cx="96473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1DCA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S6</a:t>
            </a:r>
            <a:pPr algn="l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Polish · DPI · multi-monitor · v1.0 ship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5A059">
                  <a:alpha val="10000"/>
                </a:srgbClr>
              </a:gs>
              <a:gs pos="60000">
                <a:srgbClr val="C5A0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1500" y="2413190"/>
            <a:ext cx="190500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34854" y="4694039"/>
            <a:ext cx="10618144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Let's turn the ticket flood into one calm globe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729163" y="6469261"/>
            <a:ext cx="882967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9A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design, and the build begins. Sprint 0 (backend) is already in flight.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355683" y="7536061"/>
            <a:ext cx="55764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5A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Ahmad Wasee · </a:t>
            </a:r>
            <a:pPr algn="ctr" indent="0" marL="0">
              <a:buNone/>
            </a:pPr>
            <a:r>
              <a:rPr lang="en-US" sz="1650" u="sng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 </a:t>
            </a:r>
            <a:pPr algn="ctr" indent="0" marL="0">
              <a:buNone/>
            </a:pPr>
            <a:r>
              <a:rPr lang="en-US" sz="1650" dirty="0">
                <a:solidFill>
                  <a:srgbClr val="C5A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iisupp.net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962150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WHY NOW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2495550"/>
            <a:ext cx="16089630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Support is moving from ticket → agent → ambient fix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333500" y="4533900"/>
            <a:ext cx="7686675" cy="1771650"/>
          </a:xfrm>
          <a:prstGeom prst="roundRect">
            <a:avLst>
              <a:gd name="adj" fmla="val 9677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5925" y="4886325"/>
            <a:ext cx="76800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Models are good enough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85925" y="5353050"/>
            <a:ext cx="719128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reasoning + a curated recipe KB now resolve the long tail of repeat issues reliably.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267825" y="4533900"/>
            <a:ext cx="7686675" cy="1771650"/>
          </a:xfrm>
          <a:prstGeom prst="roundRect">
            <a:avLst>
              <a:gd name="adj" fmla="val 9677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20250" y="4886325"/>
            <a:ext cx="76800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Privacy is non-negotiable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20250" y="5353050"/>
            <a:ext cx="719128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Enterprises want data sovereignty. On-device-only is a hard requirement, not a feature.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333500" y="6553200"/>
            <a:ext cx="7686675" cy="1771650"/>
          </a:xfrm>
          <a:prstGeom prst="roundRect">
            <a:avLst>
              <a:gd name="adj" fmla="val 9677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6905625"/>
            <a:ext cx="76800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Cost pressure is acute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5925" y="7372350"/>
            <a:ext cx="719128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automated fix removes a ticket — recurring savings that compound at scale.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267825" y="6553200"/>
            <a:ext cx="7686675" cy="1771650"/>
          </a:xfrm>
          <a:prstGeom prst="roundRect">
            <a:avLst>
              <a:gd name="adj" fmla="val 9677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0250" y="6905625"/>
            <a:ext cx="76800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First mover wins retention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0250" y="7372350"/>
            <a:ext cx="719128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always-on resident agent becomes infrastructure — sticky, recurring revenue.</a:t>
            </a:r>
            <a:endParaRPr lang="en-US" sz="15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252788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LANDSCAPE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786188"/>
            <a:ext cx="1718310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No one sits where ARIA sits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333500" y="5072063"/>
            <a:ext cx="3748087" cy="1962150"/>
          </a:xfrm>
          <a:prstGeom prst="roundRect">
            <a:avLst>
              <a:gd name="adj" fmla="val 8738"/>
            </a:avLst>
          </a:prstGeom>
          <a:solidFill>
            <a:srgbClr val="0A0A0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6875" y="5405438"/>
            <a:ext cx="3389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RMM / monitoring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66875" y="5815013"/>
            <a:ext cx="31737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Sees problems. Doesn't fix at the user's seat.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91138" y="5072063"/>
            <a:ext cx="3748087" cy="1962150"/>
          </a:xfrm>
          <a:prstGeom prst="roundRect">
            <a:avLst>
              <a:gd name="adj" fmla="val 8738"/>
            </a:avLst>
          </a:prstGeom>
          <a:solidFill>
            <a:srgbClr val="0A0A0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4513" y="5405438"/>
            <a:ext cx="3389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Helpdesk chatbots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24513" y="5815013"/>
            <a:ext cx="31737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Talks. Still hands the work back to the user.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48775" y="5072063"/>
            <a:ext cx="3748087" cy="1962150"/>
          </a:xfrm>
          <a:prstGeom prst="roundRect">
            <a:avLst>
              <a:gd name="adj" fmla="val 8738"/>
            </a:avLst>
          </a:prstGeom>
          <a:solidFill>
            <a:srgbClr val="0A0A0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82150" y="5405438"/>
            <a:ext cx="3389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MSP / managed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82150" y="5815013"/>
            <a:ext cx="31737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Human-paced and cloud-routed by default.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206413" y="5072063"/>
            <a:ext cx="3748087" cy="1962150"/>
          </a:xfrm>
          <a:prstGeom prst="roundRect">
            <a:avLst>
              <a:gd name="adj" fmla="val 8738"/>
            </a:avLst>
          </a:prstGeom>
          <a:gradFill rotWithShape="1">
            <a:gsLst>
              <a:gs pos="0">
                <a:srgbClr val="15110A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C5A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9788" y="5405438"/>
            <a:ext cx="33894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DCA7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ARIA Sentinel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39788" y="5843588"/>
            <a:ext cx="317377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DBB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Fixes on-device, ambient, strict-privacy, routes the rest to ServiceNow.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300413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GO TO 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833812"/>
            <a:ext cx="1718310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Land direct, expand through IT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333500" y="5119688"/>
            <a:ext cx="4673501" cy="1866900"/>
          </a:xfrm>
          <a:prstGeom prst="roundRect">
            <a:avLst>
              <a:gd name="adj" fmla="val 9184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5925" y="5472113"/>
            <a:ext cx="43655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 · Direct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85925" y="6005513"/>
            <a:ext cx="408771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.exe from iisupp.net/aria-sentinel. Pilot offer + 15-min demo.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16551" y="5119688"/>
            <a:ext cx="4572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07101" y="5119688"/>
            <a:ext cx="4673650" cy="1866900"/>
          </a:xfrm>
          <a:prstGeom prst="roundRect">
            <a:avLst>
              <a:gd name="adj" fmla="val 9184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9526" y="5472113"/>
            <a:ext cx="43656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 · Stores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159526" y="6005513"/>
            <a:ext cx="408786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 Web Store + Microsoft Partner Store listings once v1 is signed.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690300" y="5119688"/>
            <a:ext cx="4572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2280850" y="5119688"/>
            <a:ext cx="4673650" cy="1866900"/>
          </a:xfrm>
          <a:prstGeom prst="roundRect">
            <a:avLst>
              <a:gd name="adj" fmla="val 9184"/>
            </a:avLst>
          </a:prstGeom>
          <a:gradFill rotWithShape="1">
            <a:gsLst>
              <a:gs pos="0">
                <a:srgbClr val="141414">
                  <a:alpha val="100000"/>
                </a:srgbClr>
              </a:gs>
              <a:gs pos="100000">
                <a:srgbClr val="0A0A0A">
                  <a:alpha val="100000"/>
                </a:srgbClr>
              </a:gs>
            </a:gsLst>
            <a:lin ang="5400000" scaled="0"/>
          </a:gra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33275" y="5472113"/>
            <a:ext cx="43656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5A059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 · Fleet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633275" y="6005513"/>
            <a:ext cx="408786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GPO / MSI / SCCM mass deployment for mid-market and enterprise IT.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2026-06-19T06:47:01Z</dcterms:created>
  <dcterms:modified xsi:type="dcterms:W3CDTF">2026-06-19T06:47:01Z</dcterms:modified>
</cp:coreProperties>
</file>